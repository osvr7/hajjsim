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7"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708" y="23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834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present HajjSim Agent Studio.,It is a prototype digital twin for Hajj crowd safety.,The system models pilgrim movement, health stress, crowd pressure, and ritual progress.,The goal is to help planners understand risk before it becomes a real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major example is the Mina crowd crush in 2015.,The crowd became extremely dense and movement became very difficult.,Some pilgrims were trapped, and many people died or were injured.,This tragedy shows why crowd prediction, monitoring, and simulation are important.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matters because Hajj is one of the largest crowd events in the world.,Millions of pilgrims move through limited spaces and many rituals happen at similar times.,Heat, fatigue, route congestion, and high density can increase risk.,HajjSim helps operators see early warning signs instead of reacting too late.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HajjSim creates a digital version of the Hajj journey.,Each pilgrim is represented as a software agent.,The agent has a profile, a live state, and memory.,This allows the system to track stress, hydration, panic, location, and ritual progress.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uses a simple loop called Perceive, Decide, and Act.,First, the agent reads the environment, including density, heat, routes, and nearby people.,Second, it checks its health, stress, goal, and group status.,Third, it acts by moving, waiting, resting, asking for help, or avoiding danger.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the live simulation in a clear way.,Users can see pilgrim locations, heatmaps, route overlays, stress, hydration, and severity level.,The dashboard also shows an agent roster so users can search and monitor each group or agent.,The simulation can run step by step or continuously.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HajjSim can help operations teams in several ways.,It can detect bottlenecks before routes become unsafe.,It can identify vulnerable pilgrims with high stress or health risk.,It can also test emergency plans safely before using them in the real world.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plan is to make the model more realistic.,Leader agents will guide groups and keep members together.,Transportation agents will model buses, shuttles, delays, and movement between sites.,Housing agents will model camps, hotels, rooms, and accommodation pressure.,All agent types will communicate by sharing warnings, route updates, and help requests.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used for the 2015 Mina incident and crowd-safety motivation.,The rest of the presentation is based on the HajjSim Agent Studio project description.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a_clean_professional_presentation_slide_ui_conc_1.png"/>
          <p:cNvPicPr>
            <a:picLocks noChangeAspect="1"/>
          </p:cNvPicPr>
          <p:nvPr/>
        </p:nvPicPr>
        <p:blipFill>
          <a:blip r:embed="rId3"/>
          <a:srcRect t="27" b="27"/>
          <a:stretch/>
        </p:blipFill>
        <p:spPr>
          <a:xfrm>
            <a:off x="0" y="19050"/>
            <a:ext cx="12192000" cy="6858000"/>
          </a:xfrm>
          <a:prstGeom prst="rect">
            <a:avLst/>
          </a:prstGeom>
        </p:spPr>
      </p:pic>
      <p:sp>
        <p:nvSpPr>
          <p:cNvPr id="3" name="TextBox 2">
            <a:extLst>
              <a:ext uri="{FF2B5EF4-FFF2-40B4-BE49-F238E27FC236}">
                <a16:creationId xmlns:a16="http://schemas.microsoft.com/office/drawing/2014/main" id="{6365A6B8-61FE-B036-A038-E74FD4893973}"/>
              </a:ext>
            </a:extLst>
          </p:cNvPr>
          <p:cNvSpPr txBox="1"/>
          <p:nvPr/>
        </p:nvSpPr>
        <p:spPr>
          <a:xfrm>
            <a:off x="1173162" y="5816600"/>
            <a:ext cx="3625850" cy="276999"/>
          </a:xfrm>
          <a:prstGeom prst="rect">
            <a:avLst/>
          </a:prstGeom>
          <a:noFill/>
        </p:spPr>
        <p:txBody>
          <a:bodyPr wrap="square" rtlCol="0">
            <a:spAutoFit/>
          </a:bodyPr>
          <a:lstStyle/>
          <a:p>
            <a:r>
              <a:rPr lang="en-US" sz="1200" b="1" dirty="0"/>
              <a:t>Prepared by</a:t>
            </a:r>
            <a:r>
              <a:rPr lang="en-US" sz="1200" dirty="0"/>
              <a:t>: Osama Abutaha - Ahmad Babood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a_clean_infographic_presentation_slide_with_a_whit_3_batch_2.png"/>
          <p:cNvPicPr>
            <a:picLocks noChangeAspect="1"/>
          </p:cNvPicPr>
          <p:nvPr/>
        </p:nvPicPr>
        <p:blipFill>
          <a:blip r:embed="rId3"/>
          <a:srcRect t="27" b="27"/>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wide_clean_corporate_presentation_slide_with_a_whi_2_batch_1.png"/>
          <p:cNvPicPr>
            <a:picLocks noChangeAspect="1"/>
          </p:cNvPicPr>
          <p:nvPr/>
        </p:nvPicPr>
        <p:blipFill>
          <a:blip r:embed="rId3"/>
          <a:srcRect t="27" b="27"/>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a_clean_infographic_slide_presentation_page_in_a_4_batch_3.png"/>
          <p:cNvPicPr>
            <a:picLocks noChangeAspect="1"/>
          </p:cNvPicPr>
          <p:nvPr/>
        </p:nvPicPr>
        <p:blipFill>
          <a:blip r:embed="rId3"/>
          <a:srcRect t="27" b="27"/>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a_clean_corporate_presentation_slide_infographic_5_batch_4.png"/>
          <p:cNvPicPr>
            <a:picLocks noChangeAspect="1"/>
          </p:cNvPicPr>
          <p:nvPr/>
        </p:nvPicPr>
        <p:blipFill>
          <a:blip r:embed="rId3"/>
          <a:srcRect t="27" b="27"/>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a_clean_corporate_presentation_slide_ui_mockup_s_6_batch_5.png"/>
          <p:cNvPicPr>
            <a:picLocks noChangeAspect="1"/>
          </p:cNvPicPr>
          <p:nvPr/>
        </p:nvPicPr>
        <p:blipFill>
          <a:blip r:embed="rId3"/>
          <a:srcRect t="27" b="27"/>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a_clean_corporate_presentation_slide_infographic_7_batch_6.png"/>
          <p:cNvPicPr>
            <a:picLocks noChangeAspect="1"/>
          </p:cNvPicPr>
          <p:nvPr/>
        </p:nvPicPr>
        <p:blipFill>
          <a:blip r:embed="rId3"/>
          <a:srcRect t="27" b="27"/>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mnt/data/ghostwriter_images/generated/a_clean_corporate_style_presentation_slide_infog_8_batch_7.png"/>
          <p:cNvPicPr>
            <a:picLocks noChangeAspect="1"/>
          </p:cNvPicPr>
          <p:nvPr/>
        </p:nvPicPr>
        <p:blipFill>
          <a:blip r:embed="rId3"/>
          <a:srcRect t="27" b="27"/>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172200"/>
            <a:ext cx="12192000" cy="685800"/>
          </a:xfrm>
          <a:prstGeom prst="rect">
            <a:avLst/>
          </a:prstGeom>
          <a:solidFill>
            <a:srgbClr val="004C43"/>
          </a:solidFill>
          <a:ln w="12700">
            <a:solidFill>
              <a:srgbClr val="004C43"/>
            </a:solidFill>
            <a:prstDash val="solid"/>
          </a:ln>
        </p:spPr>
        <p:txBody>
          <a:bodyPr/>
          <a:lstStyle/>
          <a:p>
            <a:endParaRPr lang="en-US"/>
          </a:p>
        </p:txBody>
      </p:sp>
      <p:sp>
        <p:nvSpPr>
          <p:cNvPr id="3" name="Text 1"/>
          <p:cNvSpPr/>
          <p:nvPr/>
        </p:nvSpPr>
        <p:spPr>
          <a:xfrm>
            <a:off x="594360" y="530352"/>
            <a:ext cx="3657600" cy="502920"/>
          </a:xfrm>
          <a:prstGeom prst="rect">
            <a:avLst/>
          </a:prstGeom>
          <a:noFill/>
          <a:ln/>
        </p:spPr>
        <p:txBody>
          <a:bodyPr wrap="square" lIns="0" tIns="0" rIns="0" bIns="0" rtlCol="0" anchor="ctr"/>
          <a:lstStyle/>
          <a:p>
            <a:pPr marL="0" indent="0">
              <a:buNone/>
            </a:pPr>
            <a:r>
              <a:rPr lang="en-US" sz="3400" b="1" dirty="0">
                <a:solidFill>
                  <a:srgbClr val="004C43"/>
                </a:solidFill>
                <a:latin typeface="Aptos Display" pitchFamily="34" charset="0"/>
                <a:ea typeface="Aptos Display" pitchFamily="34" charset="-122"/>
                <a:cs typeface="Aptos Display" pitchFamily="34" charset="-120"/>
              </a:rPr>
              <a:t>References</a:t>
            </a:r>
            <a:endParaRPr lang="en-US" sz="3400" dirty="0"/>
          </a:p>
        </p:txBody>
      </p:sp>
      <p:sp>
        <p:nvSpPr>
          <p:cNvPr id="4" name="Shape 2"/>
          <p:cNvSpPr/>
          <p:nvPr/>
        </p:nvSpPr>
        <p:spPr>
          <a:xfrm>
            <a:off x="594360" y="1188720"/>
            <a:ext cx="4754880" cy="0"/>
          </a:xfrm>
          <a:prstGeom prst="line">
            <a:avLst/>
          </a:prstGeom>
          <a:noFill/>
          <a:ln w="17780">
            <a:solidFill>
              <a:srgbClr val="B58A2A"/>
            </a:solidFill>
            <a:prstDash val="solid"/>
          </a:ln>
        </p:spPr>
        <p:txBody>
          <a:bodyPr/>
          <a:lstStyle/>
          <a:p>
            <a:endParaRPr lang="en-US"/>
          </a:p>
        </p:txBody>
      </p:sp>
      <p:sp>
        <p:nvSpPr>
          <p:cNvPr id="5" name="Text 3"/>
          <p:cNvSpPr/>
          <p:nvPr/>
        </p:nvSpPr>
        <p:spPr>
          <a:xfrm>
            <a:off x="822960" y="1572768"/>
            <a:ext cx="10515600" cy="384048"/>
          </a:xfrm>
          <a:prstGeom prst="rect">
            <a:avLst/>
          </a:prstGeom>
          <a:noFill/>
          <a:ln/>
        </p:spPr>
        <p:txBody>
          <a:bodyPr wrap="square" lIns="254" tIns="254" rIns="254" bIns="254" rtlCol="0" anchor="ctr">
            <a:normAutofit/>
          </a:bodyPr>
          <a:lstStyle/>
          <a:p>
            <a:pPr marL="0" indent="0">
              <a:buNone/>
            </a:pPr>
            <a:r>
              <a:rPr lang="en-US" sz="1800" dirty="0">
                <a:solidFill>
                  <a:srgbClr val="0E2E2C"/>
                </a:solidFill>
                <a:latin typeface="Aptos" pitchFamily="34" charset="0"/>
                <a:ea typeface="Aptos" pitchFamily="34" charset="-122"/>
                <a:cs typeface="Aptos" pitchFamily="34" charset="-120"/>
              </a:rPr>
              <a:t>1. Reuters. Death toll in Saudi haj disaster at least 2,070, Reuters tally. 29 Oct 2015.</a:t>
            </a:r>
            <a:endParaRPr lang="en-US" sz="1800" dirty="0"/>
          </a:p>
        </p:txBody>
      </p:sp>
      <p:sp>
        <p:nvSpPr>
          <p:cNvPr id="6" name="Text 4"/>
          <p:cNvSpPr/>
          <p:nvPr/>
        </p:nvSpPr>
        <p:spPr>
          <a:xfrm>
            <a:off x="822960" y="2167128"/>
            <a:ext cx="10515600" cy="384048"/>
          </a:xfrm>
          <a:prstGeom prst="rect">
            <a:avLst/>
          </a:prstGeom>
          <a:noFill/>
          <a:ln/>
        </p:spPr>
        <p:txBody>
          <a:bodyPr wrap="square" lIns="254" tIns="254" rIns="254" bIns="254" rtlCol="0" anchor="ctr">
            <a:normAutofit/>
          </a:bodyPr>
          <a:lstStyle/>
          <a:p>
            <a:pPr marL="0" indent="0">
              <a:buNone/>
            </a:pPr>
            <a:r>
              <a:rPr lang="en-US" sz="1800" dirty="0">
                <a:solidFill>
                  <a:srgbClr val="0E2E2C"/>
                </a:solidFill>
                <a:latin typeface="Aptos" pitchFamily="34" charset="0"/>
                <a:ea typeface="Aptos" pitchFamily="34" charset="-122"/>
                <a:cs typeface="Aptos" pitchFamily="34" charset="-120"/>
              </a:rPr>
              <a:t>2. Associated Press. AP count: Over 2,400 killed in Saudi hajj stampede, crush. 9 Dec 2015.</a:t>
            </a:r>
            <a:endParaRPr lang="en-US" sz="1800" dirty="0"/>
          </a:p>
        </p:txBody>
      </p:sp>
      <p:sp>
        <p:nvSpPr>
          <p:cNvPr id="7" name="Text 5"/>
          <p:cNvSpPr/>
          <p:nvPr/>
        </p:nvSpPr>
        <p:spPr>
          <a:xfrm>
            <a:off x="822960" y="2761488"/>
            <a:ext cx="10515600" cy="384048"/>
          </a:xfrm>
          <a:prstGeom prst="rect">
            <a:avLst/>
          </a:prstGeom>
          <a:noFill/>
          <a:ln/>
        </p:spPr>
        <p:txBody>
          <a:bodyPr wrap="square" lIns="254" tIns="254" rIns="254" bIns="254" rtlCol="0" anchor="ctr">
            <a:normAutofit/>
          </a:bodyPr>
          <a:lstStyle/>
          <a:p>
            <a:pPr marL="0" indent="0">
              <a:buNone/>
            </a:pPr>
            <a:r>
              <a:rPr lang="en-US" sz="1800" dirty="0">
                <a:solidFill>
                  <a:srgbClr val="0E2E2C"/>
                </a:solidFill>
                <a:latin typeface="Aptos" pitchFamily="34" charset="0"/>
                <a:ea typeface="Aptos" pitchFamily="34" charset="-122"/>
                <a:cs typeface="Aptos" pitchFamily="34" charset="-120"/>
              </a:rPr>
              <a:t>3. Salamati P, et al. Hajj Stampede in Mina, 2015: Need for Intervention. 2016.</a:t>
            </a:r>
            <a:endParaRPr lang="en-US" sz="1800" dirty="0"/>
          </a:p>
        </p:txBody>
      </p:sp>
      <p:sp>
        <p:nvSpPr>
          <p:cNvPr id="8" name="Text 6"/>
          <p:cNvSpPr/>
          <p:nvPr/>
        </p:nvSpPr>
        <p:spPr>
          <a:xfrm>
            <a:off x="822960" y="3355848"/>
            <a:ext cx="10515600" cy="384048"/>
          </a:xfrm>
          <a:prstGeom prst="rect">
            <a:avLst/>
          </a:prstGeom>
          <a:noFill/>
          <a:ln/>
        </p:spPr>
        <p:txBody>
          <a:bodyPr wrap="square" lIns="254" tIns="254" rIns="254" bIns="254" rtlCol="0" anchor="ctr">
            <a:normAutofit/>
          </a:bodyPr>
          <a:lstStyle/>
          <a:p>
            <a:pPr marL="0" indent="0">
              <a:buNone/>
            </a:pPr>
            <a:r>
              <a:rPr lang="en-US" sz="1800" dirty="0">
                <a:solidFill>
                  <a:srgbClr val="0E2E2C"/>
                </a:solidFill>
                <a:latin typeface="Aptos" pitchFamily="34" charset="0"/>
                <a:ea typeface="Aptos" pitchFamily="34" charset="-122"/>
                <a:cs typeface="Aptos" pitchFamily="34" charset="-120"/>
              </a:rPr>
              <a:t>4. Alaska YA, et al. The impact of crowd control measures on the occurrence of stampedes. 2017.</a:t>
            </a:r>
            <a:endParaRPr lang="en-US" sz="1800" dirty="0"/>
          </a:p>
        </p:txBody>
      </p:sp>
      <p:sp>
        <p:nvSpPr>
          <p:cNvPr id="9" name="Text 7"/>
          <p:cNvSpPr/>
          <p:nvPr/>
        </p:nvSpPr>
        <p:spPr>
          <a:xfrm>
            <a:off x="822960" y="3950208"/>
            <a:ext cx="10515600" cy="384048"/>
          </a:xfrm>
          <a:prstGeom prst="rect">
            <a:avLst/>
          </a:prstGeom>
          <a:noFill/>
          <a:ln/>
        </p:spPr>
        <p:txBody>
          <a:bodyPr wrap="square" lIns="254" tIns="254" rIns="254" bIns="254" rtlCol="0" anchor="ctr">
            <a:normAutofit/>
          </a:bodyPr>
          <a:lstStyle/>
          <a:p>
            <a:pPr marL="0" indent="0">
              <a:buNone/>
            </a:pPr>
            <a:r>
              <a:rPr lang="en-US" sz="1800" dirty="0">
                <a:solidFill>
                  <a:srgbClr val="0E2E2C"/>
                </a:solidFill>
                <a:latin typeface="Aptos" pitchFamily="34" charset="0"/>
                <a:ea typeface="Aptos" pitchFamily="34" charset="-122"/>
                <a:cs typeface="Aptos" pitchFamily="34" charset="-120"/>
              </a:rPr>
              <a:t>5. Project source: HajjSim Agent Studio prototype description provided by the project team.</a:t>
            </a:r>
            <a:endParaRPr lang="en-US" sz="1800" dirty="0"/>
          </a:p>
        </p:txBody>
      </p:sp>
      <p:sp>
        <p:nvSpPr>
          <p:cNvPr id="10" name="Text 8"/>
          <p:cNvSpPr/>
          <p:nvPr/>
        </p:nvSpPr>
        <p:spPr>
          <a:xfrm>
            <a:off x="822960" y="4956048"/>
            <a:ext cx="10515600" cy="502920"/>
          </a:xfrm>
          <a:prstGeom prst="rect">
            <a:avLst/>
          </a:prstGeom>
          <a:noFill/>
          <a:ln/>
        </p:spPr>
        <p:txBody>
          <a:bodyPr wrap="square" lIns="254" tIns="254" rIns="254" bIns="254" rtlCol="0" anchor="ctr">
            <a:normAutofit/>
          </a:bodyPr>
          <a:lstStyle/>
          <a:p>
            <a:pPr marL="0" indent="0">
              <a:buNone/>
            </a:pPr>
            <a:r>
              <a:rPr lang="en-US" sz="1600" dirty="0">
                <a:solidFill>
                  <a:srgbClr val="4B5B59"/>
                </a:solidFill>
                <a:latin typeface="Aptos" pitchFamily="34" charset="0"/>
                <a:ea typeface="Aptos" pitchFamily="34" charset="-122"/>
                <a:cs typeface="Aptos" pitchFamily="34" charset="-120"/>
              </a:rPr>
              <a:t>These references support the historical motivation slide. The project description and technical content come from the provided HajjSim brief.</a:t>
            </a:r>
            <a:endParaRPr lang="en-US" sz="1600" dirty="0"/>
          </a:p>
        </p:txBody>
      </p:sp>
      <p:sp>
        <p:nvSpPr>
          <p:cNvPr id="11" name="Text 9"/>
          <p:cNvSpPr/>
          <p:nvPr/>
        </p:nvSpPr>
        <p:spPr>
          <a:xfrm>
            <a:off x="594360" y="6345936"/>
            <a:ext cx="4114800" cy="228600"/>
          </a:xfrm>
          <a:prstGeom prst="rect">
            <a:avLst/>
          </a:prstGeom>
          <a:noFill/>
          <a:ln/>
        </p:spPr>
        <p:txBody>
          <a:bodyPr wrap="square" lIns="0" tIns="0" rIns="0" bIns="0" rtlCol="0" anchor="ctr"/>
          <a:lstStyle/>
          <a:p>
            <a:pPr marL="0" indent="0">
              <a:buNone/>
            </a:pPr>
            <a:r>
              <a:rPr lang="en-US" sz="1400" b="1" dirty="0">
                <a:solidFill>
                  <a:srgbClr val="FFFFFF"/>
                </a:solidFill>
                <a:latin typeface="Aptos" pitchFamily="34" charset="0"/>
                <a:ea typeface="Aptos" pitchFamily="34" charset="-122"/>
                <a:cs typeface="Aptos" pitchFamily="34" charset="-120"/>
              </a:rPr>
              <a:t>HajjSim Agent Studio</a:t>
            </a:r>
            <a:endParaRPr lang="en-US" sz="1400" dirty="0"/>
          </a:p>
        </p:txBody>
      </p:sp>
      <p:sp>
        <p:nvSpPr>
          <p:cNvPr id="12" name="Text 10"/>
          <p:cNvSpPr/>
          <p:nvPr/>
        </p:nvSpPr>
        <p:spPr>
          <a:xfrm>
            <a:off x="8229600" y="6345936"/>
            <a:ext cx="3291840" cy="228600"/>
          </a:xfrm>
          <a:prstGeom prst="rect">
            <a:avLst/>
          </a:prstGeom>
          <a:noFill/>
          <a:ln/>
        </p:spPr>
        <p:txBody>
          <a:bodyPr wrap="square" lIns="0" tIns="0" rIns="0" bIns="0" rtlCol="0" anchor="ctr"/>
          <a:lstStyle/>
          <a:p>
            <a:pPr marL="0" indent="0" algn="r">
              <a:buNone/>
            </a:pPr>
            <a:r>
              <a:rPr lang="en-US" sz="1400" dirty="0">
                <a:solidFill>
                  <a:srgbClr val="FFFFFF"/>
                </a:solidFill>
                <a:latin typeface="Aptos" pitchFamily="34" charset="0"/>
                <a:ea typeface="Aptos" pitchFamily="34" charset="-122"/>
                <a:cs typeface="Aptos" pitchFamily="34" charset="-120"/>
              </a:rPr>
              <a:t>Prototype Project Presentation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620</Words>
  <Application>Microsoft Office PowerPoint</Application>
  <PresentationFormat>Widescreen</PresentationFormat>
  <Paragraphs>28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HajjSim Agent Studio</dc:title>
  <dc:subject>HajjSim Agent Studio presentation</dc:subject>
  <dc:creator>OpenAI</dc:creator>
  <cp:lastModifiedBy>Osama R Abutaha</cp:lastModifiedBy>
  <cp:revision>4</cp:revision>
  <dcterms:created xsi:type="dcterms:W3CDTF">2026-04-30T17:04:27Z</dcterms:created>
  <dcterms:modified xsi:type="dcterms:W3CDTF">2026-05-06T11:20:56Z</dcterms:modified>
</cp:coreProperties>
</file>